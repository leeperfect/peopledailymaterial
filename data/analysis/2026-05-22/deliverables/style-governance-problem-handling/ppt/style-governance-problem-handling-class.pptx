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8447daebdf4ee7" /><Relationship Type="http://schemas.openxmlformats.org/officeDocument/2006/relationships/extended-properties" Target="/docProps/app.xml" Id="Rfdc565cb135b40bc" /><Relationship Type="http://schemas.openxmlformats.org/officeDocument/2006/relationships/officeDocument" Target="/ppt/presentation.xml" Id="R0b7264045ff24b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11637c37ea4213"/>
  </p:sldMasterIdLst>
  <p:notesMasterIdLst>
    <p:notesMasterId xmlns:r="http://schemas.openxmlformats.org/officeDocument/2006/relationships" r:id="R88423f04a05d4ac1"/>
  </p:notesMasterIdLst>
  <p:sldIdLst>
    <p:sldId xmlns:r="http://schemas.openxmlformats.org/officeDocument/2006/relationships" id="256" r:id="Ra519ebd0174645ba"/>
    <p:sldId xmlns:r="http://schemas.openxmlformats.org/officeDocument/2006/relationships" id="257" r:id="R8fee7c2b950d49a4"/>
    <p:sldId xmlns:r="http://schemas.openxmlformats.org/officeDocument/2006/relationships" id="258" r:id="R2f5bb65e51a74f34"/>
    <p:sldId xmlns:r="http://schemas.openxmlformats.org/officeDocument/2006/relationships" id="259" r:id="Rc2da088e13954876"/>
    <p:sldId xmlns:r="http://schemas.openxmlformats.org/officeDocument/2006/relationships" id="260" r:id="Rc6862d3985164141"/>
    <p:sldId xmlns:r="http://schemas.openxmlformats.org/officeDocument/2006/relationships" id="261" r:id="Reeff1c989d0b49d7"/>
    <p:sldId xmlns:r="http://schemas.openxmlformats.org/officeDocument/2006/relationships" id="262" r:id="R3419ea2b0d534505"/>
    <p:sldId xmlns:r="http://schemas.openxmlformats.org/officeDocument/2006/relationships" id="263" r:id="Rc9229d9d838c4617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11637c37ea4213" /><Relationship Type="http://schemas.openxmlformats.org/officeDocument/2006/relationships/theme" Target="/ppt/theme/theme1.xml" Id="R1e440434e0064e8b" /><Relationship Type="http://schemas.openxmlformats.org/officeDocument/2006/relationships/notesMaster" Target="/ppt/notesMasters/notesMaster1.xml" Id="R88423f04a05d4ac1" /><Relationship Type="http://schemas.openxmlformats.org/officeDocument/2006/relationships/presProps" Target="/ppt/presProps.xml" Id="R9ab3348a0505421c" /><Relationship Type="http://schemas.openxmlformats.org/officeDocument/2006/relationships/viewProps" Target="/ppt/viewProps.xml" Id="R007ea929ac0148af" /><Relationship Type="http://schemas.openxmlformats.org/officeDocument/2006/relationships/tableStyles" Target="/ppt/tableStyles.xml" Id="Rce81d205b3d84dbf" /><Relationship Type="http://schemas.openxmlformats.org/officeDocument/2006/relationships/slide" Target="/ppt/slides/slide1.xml" Id="Ra519ebd0174645ba" /><Relationship Type="http://schemas.openxmlformats.org/officeDocument/2006/relationships/slide" Target="/ppt/slides/slide2.xml" Id="R8fee7c2b950d49a4" /><Relationship Type="http://schemas.openxmlformats.org/officeDocument/2006/relationships/slide" Target="/ppt/slides/slide3.xml" Id="R2f5bb65e51a74f34" /><Relationship Type="http://schemas.openxmlformats.org/officeDocument/2006/relationships/slide" Target="/ppt/slides/slide4.xml" Id="Rc2da088e13954876" /><Relationship Type="http://schemas.openxmlformats.org/officeDocument/2006/relationships/slide" Target="/ppt/slides/slide5.xml" Id="Rc6862d3985164141" /><Relationship Type="http://schemas.openxmlformats.org/officeDocument/2006/relationships/slide" Target="/ppt/slides/slide6.xml" Id="Reeff1c989d0b49d7" /><Relationship Type="http://schemas.openxmlformats.org/officeDocument/2006/relationships/slide" Target="/ppt/slides/slide7.xml" Id="R3419ea2b0d534505" /><Relationship Type="http://schemas.openxmlformats.org/officeDocument/2006/relationships/slide" Target="/ppt/slides/slide8.xml" Id="Rc9229d9d838c46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50de8f79e6e4a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84fffe41b448d0" /><Relationship Type="http://schemas.openxmlformats.org/officeDocument/2006/relationships/notesMaster" Target="/ppt/notesMasters/notesMaster1.xml" Id="R6ec21d968b4148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96cab0e5ef4369" /><Relationship Type="http://schemas.openxmlformats.org/officeDocument/2006/relationships/notesMaster" Target="/ppt/notesMasters/notesMaster1.xml" Id="Rd60e793346af4c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f8daf8405d4dda" /><Relationship Type="http://schemas.openxmlformats.org/officeDocument/2006/relationships/notesMaster" Target="/ppt/notesMasters/notesMaster1.xml" Id="Rd2e761ccc36942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72a9656056466d" /><Relationship Type="http://schemas.openxmlformats.org/officeDocument/2006/relationships/notesMaster" Target="/ppt/notesMasters/notesMaster1.xml" Id="Rcb6cce10043c48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20399d971d4442" /><Relationship Type="http://schemas.openxmlformats.org/officeDocument/2006/relationships/notesMaster" Target="/ppt/notesMasters/notesMaster1.xml" Id="Rb802cd5dfdd74c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cc6274a1f94ad6" /><Relationship Type="http://schemas.openxmlformats.org/officeDocument/2006/relationships/notesMaster" Target="/ppt/notesMasters/notesMaster1.xml" Id="Rea283e18c62447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0c9095aab94d09" /><Relationship Type="http://schemas.openxmlformats.org/officeDocument/2006/relationships/notesMaster" Target="/ppt/notesMasters/notesMaster1.xml" Id="Re88a8f3a900848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8f65f751294d2d" /><Relationship Type="http://schemas.openxmlformats.org/officeDocument/2006/relationships/notesMaster" Target="/ppt/notesMasters/notesMaster1.xml" Id="Rad51ce95f65641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48f04174b542f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7c36a3dce1c4bf0" /><Relationship Type="http://schemas.openxmlformats.org/officeDocument/2006/relationships/slideLayout" Target="/ppt/slideLayouts/slideLayout2.xml" Id="R70880bf9e2e640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880bf9e2e640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d25da115f34a73" /><Relationship Type="http://schemas.openxmlformats.org/officeDocument/2006/relationships/notesSlide" Target="/ppt/notesSlides/notesSlide1.xml" Id="R186f47f7f5d549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150b09899a4bee" /><Relationship Type="http://schemas.openxmlformats.org/officeDocument/2006/relationships/notesSlide" Target="/ppt/notesSlides/notesSlide2.xml" Id="R8072e4c7a0a14f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9b42a5301d4e95" /><Relationship Type="http://schemas.openxmlformats.org/officeDocument/2006/relationships/notesSlide" Target="/ppt/notesSlides/notesSlide3.xml" Id="R85361ed1d78a42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495d503d1942f9" /><Relationship Type="http://schemas.openxmlformats.org/officeDocument/2006/relationships/notesSlide" Target="/ppt/notesSlides/notesSlide4.xml" Id="R6e4f6655596c44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e46618a04a4169" /><Relationship Type="http://schemas.openxmlformats.org/officeDocument/2006/relationships/notesSlide" Target="/ppt/notesSlides/notesSlide5.xml" Id="Rb0ea6ae349c24a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9816fcf301414a" /><Relationship Type="http://schemas.openxmlformats.org/officeDocument/2006/relationships/notesSlide" Target="/ppt/notesSlides/notesSlide6.xml" Id="Re8a8da7c09bc4d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d2ac0a05774a39" /><Relationship Type="http://schemas.openxmlformats.org/officeDocument/2006/relationships/notesSlide" Target="/ppt/notesSlides/notesSlide7.xml" Id="Rc53c00a1ca3940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9b6ce1eb264bb3" /><Relationship Type="http://schemas.openxmlformats.org/officeDocument/2006/relationships/notesSlide" Target="/ppt/notesSlides/notesSlide8.xml" Id="Rf7c06766d13243f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176A0A-6F04-4E3B-A9DD-BB21F68E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5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C029B-CFA9-4B4A-8491-4BD4AB57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7950E-C0AE-48A0-9B50-E4C1CE22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7D7D4-7BE4-43A4-9117-C4ADEA2F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5D479-9E54-43F2-9A96-19FCFF76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84BB9-6961-4AF9-B19A-1DFE1EF7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770E4-C505-430E-859D-7D0BC5C6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1B44D-5533-4B9F-9A5F-2E13A3AB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D3911-CA89-4D2D-8257-BCAC7E0B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AE8AD-FF65-4904-8089-4515D8BE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44B5B1-4F78-4C77-BAA2-F28BA566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7ECEB-C0AE-4044-931C-7143F5B6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B157F8-48F3-4EE0-8795-BEFB3990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049CED-EB80-4CE6-A511-E6782224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2083CC-6B0D-426B-B9EA-591F3646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1CE547-CDB2-4D37-B9A0-EF142191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C6D4FE-B828-4646-8677-D826E58D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C88724-1760-48A8-8311-DF0555A3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F4BE2A-8406-4C20-BF68-AC14EEB3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41C4EB-6D11-45EA-AE63-A03920E4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521DDE-EC99-4C2C-9BE2-2160024A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9045A9-48DA-404C-8F4A-6F766AF7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31A365-91F2-4ACD-8622-F70AB94A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594D62-4D7C-46AC-A593-0BD0008D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9FB750-EFE3-4D83-9405-FE788A90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9214EB-4CBC-479A-9B0D-FC7251FC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6A27B7-E9FE-4481-A960-005F28D5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E84175-5B8B-4F4A-8A66-19377BDD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DE175C-61A4-4F57-A504-6FC29C69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B701CA-EB2A-4D20-BAAF-D2B152C4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D8435A-F683-42FE-9106-1D5E1976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EDDDF3-9D8E-446E-993E-5A4545D1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37F59A-BA18-4996-A5D9-5D98A071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B31239-102E-43E0-A85E-286A2E84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146FA0-BDF2-4741-9030-048F7E21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825680-81C0-4447-8F03-2BD3A564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BDA7CB-AFB0-40EE-867A-BDC1694F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829BF6-3D17-4AB9-8696-17857667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937EF6-4F43-4CD8-93D6-D3ED1747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1A73F8-0307-42F2-A335-F0B93319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40E237-D61D-4A9C-8DBB-4334595B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667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8DF9C">
                <a:alpha val="43922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987E0D-225C-401E-B982-4E4B84AC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0010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DF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8DF9C"/>
                </a:solidFill>
                <a:latin typeface="PingFang SC"/>
                <a:ea typeface="PingFang SC"/>
                <a:cs typeface="PingFang SC"/>
              </a:rPr>
              <a:t>课堂主题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DCE2B6-7371-4864-9955-F1C1CC0F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90700"/>
            <a:ext cx="8572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F7EFE2"/>
                </a:solidFill>
                <a:latin typeface="PingFang SC"/>
                <a:ea typeface="PingFang SC"/>
                <a:cs typeface="PingFang SC"/>
              </a:defRPr>
            </a:pPr>
            <a:r>
              <a:rPr sz="6150" b="1">
                <a:solidFill>
                  <a:srgbClr val="F7EFE2"/>
                </a:solidFill>
                <a:latin typeface="PingFang SC"/>
                <a:ea typeface="PingFang SC"/>
                <a:cs typeface="PingFang SC"/>
              </a:rPr>
              <a:t>别把政绩观</a:t>
            </a:r>
          </a:p>
          <a:p xmlns:a="http://schemas.openxmlformats.org/drawingml/2006/main">
            <a:pPr algn="l">
              <a:defRPr sz="6150" b="1">
                <a:solidFill>
                  <a:srgbClr val="F7EFE2"/>
                </a:solidFill>
                <a:latin typeface="PingFang SC"/>
                <a:ea typeface="PingFang SC"/>
                <a:cs typeface="PingFang SC"/>
              </a:defRPr>
            </a:pPr>
            <a:r>
              <a:rPr sz="6150" b="1">
                <a:solidFill>
                  <a:srgbClr val="F7EFE2"/>
                </a:solidFill>
                <a:latin typeface="PingFang SC"/>
                <a:ea typeface="PingFang SC"/>
                <a:cs typeface="PingFang SC"/>
              </a:rPr>
              <a:t>写成口号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A778CD-BD5B-4F03-8060-6C9416E4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066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D77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8D77D"/>
                </a:solidFill>
                <a:latin typeface="PingFang SC"/>
                <a:ea typeface="PingFang SC"/>
                <a:cs typeface="PingFang SC"/>
              </a:rPr>
              <a:t>人民日报这一天真正该学的是“把问题接住”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DD3C02F-A044-4657-AB90-83AD15B9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19250"/>
            <a:ext cx="53340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19050">
            <a:solidFill>
              <a:srgbClr val="F8DF9C">
                <a:alpha val="43922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29EC40-7022-40EF-98DC-A5637CBC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143125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E56A5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51E9D16-C989-47AB-A9B0-A6545014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22288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56A5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E56A55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325595-C9B8-43DE-B54B-EB62E456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219325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EFE2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7EFE2"/>
                </a:solidFill>
                <a:latin typeface="PingFang SC"/>
                <a:ea typeface="PingFang SC"/>
                <a:cs typeface="PingFang SC"/>
              </a:rPr>
              <a:t>问题清单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747C68B-39EE-4069-82ED-E635E878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31432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66C8B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22001B-BDB9-4119-A37B-5BC91B76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32289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6C8B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66C8BD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E9A0286-16C8-48C3-9408-34F07271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2194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EFE2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7EFE2"/>
                </a:solidFill>
                <a:latin typeface="PingFang SC"/>
                <a:ea typeface="PingFang SC"/>
                <a:cs typeface="PingFang SC"/>
              </a:rPr>
              <a:t>责任清单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F983684-97AB-4911-8C36-5A946B2E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143375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66C8B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8879F0B-BA1C-408F-AB56-1BC31EF7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2291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6C8B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66C8BD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70190F2-097E-403D-B8F3-592FF7EB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219575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EFE2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7EFE2"/>
                </a:solidFill>
                <a:latin typeface="PingFang SC"/>
                <a:ea typeface="PingFang SC"/>
                <a:cs typeface="PingFang SC"/>
              </a:rPr>
              <a:t>办理清单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8787397-C748-4F2E-831E-79E8C3D9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51435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F8D77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97F1B61-38F2-4C8E-8FC1-F347EB72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52292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8D77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8D77D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550089F-4F7A-42EF-8E7D-631D0877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2197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EFE2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7EFE2"/>
                </a:solidFill>
                <a:latin typeface="PingFang SC"/>
                <a:ea typeface="PingFang SC"/>
                <a:cs typeface="PingFang SC"/>
              </a:rPr>
              <a:t>反馈长效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434CD31-AEFA-4ED5-BBAE-ECF5876F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048500"/>
            <a:ext cx="619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7EFE2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7EFE2"/>
                </a:solidFill>
                <a:latin typeface="PingFang SC"/>
                <a:ea typeface="PingFang SC"/>
                <a:cs typeface="PingFang SC"/>
              </a:rPr>
              <a:t>申论写成治理链，面试答成处理链。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9478B1E-EBA4-4C90-85DE-1177F6AA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67875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人民日报 2026-05-22 教研转译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0F1A211-E8A7-412C-A554-204F65E6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9667875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1405619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24DFA3-6FF9-45F1-8C3D-542C0A73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C7698-C8BE-4B7D-A98F-BABBD18B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5E69E-68C3-418E-98E4-2F7F451C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4CFFE-D190-4004-8684-D2DFDE64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F6C57-E280-4656-913A-CEBBC126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25027-D616-4B6F-ACA1-DFC93F33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A7AEB-460F-4DF3-B5E4-93AEBA98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247F4-4455-42BB-84EF-565A71C8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53DA6C-609E-4568-82B4-EA6CA04D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C90BD0-D3D7-480F-9DB2-E0CEC571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3676F4-22EC-45EE-87BE-A5CF606F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CE5841-17A8-410A-AC34-7F0B14F3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4EA6BF-B082-4803-BD60-36AF8F50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BFB22C-2FE4-4F95-81F8-3A14DEAE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6080E4-A9B5-4922-BEB1-E4C7F30A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1C5A39-7617-4550-98E8-EAEDBBC0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445502-7C7B-4DC7-825C-25F32478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BECD2F-C808-4CA4-AD0B-25DA2F00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C51310-D5B9-4244-B829-A4891539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F76584-5691-4B81-AE68-8E47F2C7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CDDA9A-1613-4FAB-A83B-61D1F509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C200BF-6498-4009-A5F6-132AC146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9F844A-8C87-4466-9F6B-FF5C2128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14F6BE-BF2C-4CAC-A2F4-8587CE92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03AC11-E6EE-49D5-AC8D-F06EC94A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3EB491-D6CE-4BAF-B367-E33FE53A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5027C0-A1F1-4134-8E86-F756BB80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C76503-F604-44E9-BB58-4CF7DCDC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B01E32-43B9-47A1-91A2-2E86D46E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3FF615-75B2-447C-B172-01BC0785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F6359A-C4A2-434B-BBB1-8EE99EE2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022D00-13E4-456D-B482-C7915AE8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0E4FB2-3420-4944-A1C0-5155E4B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25B224-8A66-428C-8A3F-F93D59EE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71731A-E245-4AE7-AC6B-6FA500A0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D408CC-201A-4BF2-9BE4-9E68CBDF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7139D8-5DB7-4863-935D-103D50D4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A22FBB9-7FD3-445A-A199-0729A5A5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DFF609-7F68-4E18-BC14-89A6B939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AAAE0A-A9EF-4327-B6F0-3CAD7823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4CC18F-C1DB-4EBD-A67B-AF3FB6EA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667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5882"/>
            </a:srgbClr>
          </a:solidFill>
          <a:ln xmlns:a="http://schemas.openxmlformats.org/drawingml/2006/main" w="9525">
            <a:solidFill>
              <a:srgbClr val="B7C6D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C9E675B-44A8-431A-BAF5-E141CBC7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0010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F7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F4F77"/>
                </a:solidFill>
                <a:latin typeface="PingFang SC"/>
                <a:ea typeface="PingFang SC"/>
                <a:cs typeface="PingFang SC"/>
              </a:rPr>
              <a:t>学员痛点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97FFF1-CCB7-4904-AC7F-1D6B4E1E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9334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会背口号，但写不出动作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CF2E2D-DECD-439F-89CC-ECC2A7EA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33750"/>
            <a:ext cx="723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980"/>
            </a:srgbClr>
          </a:solidFill>
          <a:ln xmlns:a="http://schemas.openxmlformats.org/drawingml/2006/main" w="19050">
            <a:solidFill>
              <a:srgbClr val="B5483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0AD875-0B85-43C5-8D26-05FD0564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3375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8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D58FDD1-0DE4-4428-9636-326E3009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543300"/>
            <a:ext cx="672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常见写法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8DE908D-0888-40BD-BA19-9F725003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019550"/>
            <a:ext cx="67246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坚持人民至上</a:t>
            </a:r>
          </a:p>
          <a:p xmlns:a="http://schemas.openxmlformats.org/drawingml/2006/main">
            <a:pPr algn="l">
              <a:def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树牢为民情怀</a:t>
            </a:r>
          </a:p>
          <a:p xmlns:a="http://schemas.openxmlformats.org/drawingml/2006/main">
            <a:pPr algn="l">
              <a:def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真抓实干、久久为功</a:t>
            </a:r>
          </a:p>
          <a:p xmlns:a="http://schemas.openxmlformats.org/drawingml/2006/main">
            <a:pPr algn="l">
              <a:def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完善制度机制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241883E-9FD9-446D-98C4-709254E6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33750"/>
            <a:ext cx="723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980"/>
            </a:srgbClr>
          </a:solidFill>
          <a:ln xmlns:a="http://schemas.openxmlformats.org/drawingml/2006/main" w="19050">
            <a:solidFill>
              <a:srgbClr val="1F797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0CBAE61-BF11-43DE-98E6-0AABB3BF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3375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9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1A4FF5-9C13-43C4-AE2B-381847B3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543300"/>
            <a:ext cx="672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需要补上的追问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5EE2DB-567F-42E7-A67B-27EC690A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19550"/>
            <a:ext cx="67246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问题怎么被看见？</a:t>
            </a:r>
          </a:p>
          <a:p xmlns:a="http://schemas.openxmlformats.org/drawingml/2006/main">
            <a:pPr algn="l">
              <a:def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看见以后谁来接？</a:t>
            </a:r>
          </a:p>
          <a:p xmlns:a="http://schemas.openxmlformats.org/drawingml/2006/main">
            <a:pPr algn="l">
              <a:def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接住以后怎么办？</a:t>
            </a:r>
          </a:p>
          <a:p xmlns:a="http://schemas.openxmlformats.org/drawingml/2006/main">
            <a:pPr algn="l">
              <a:def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办完以后怎么反馈、怎么长效？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E89160F-8A1A-4860-BEA5-502AE2BC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0125"/>
            <a:ext cx="10001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0AA7240-08DE-49B4-A9FF-45329579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00575"/>
            <a:ext cx="323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9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A4B03DF-B00C-4703-853F-49FAED64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7620000"/>
            <a:ext cx="12382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空话的问题不是错，而是没有动作。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10A278B-31D4-4215-B616-210F7AEE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67875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人民日报 2026-05-22 教研转译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5B888A5-BB42-421C-A7EA-AB40C3EA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9667875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02 / 08</a:t>
            </a:r>
          </a:p>
        </p:txBody>
      </p:sp>
    </p:spTree>
    <p:extLst>
      <p:ext uri="{BB962C8B-B14F-4D97-AF65-F5344CB8AC3E}">
        <p14:creationId xmlns:p14="http://schemas.microsoft.com/office/powerpoint/2010/main" val="867362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B23B01-B421-43C5-8C95-0F444C82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E192D-E9FC-4CC2-9D5A-8EE8C3BB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DF921-0B52-44B4-89D9-2B8EC363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4A93A-F9A0-43EE-875B-C5661163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C9743-02F4-4376-A7D0-B6EB9642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9A6A4-7AB4-4460-AC3E-E6733313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33347-5EAE-439E-9CB9-923AB8BD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3BE90-97DE-4A61-944E-EE380A7B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8DEE35-529E-4753-8B42-A393DA82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345C7A-DD4F-43D4-BF9C-C8212F0F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5CC98B-C6FA-453C-8335-ED445368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6155C-B6BE-45A6-ABDB-5D363BD6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F2622D-5D10-4CCB-A43C-9E9530B6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ADBCD7-DC5C-469F-81E2-CA7F4B04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7F6623-56FA-4304-A049-1448AB11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F06360-C108-47EC-9ECB-9C6DB3A6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54DAA2-0B54-4218-BF8E-2641D8A6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02DB48-976B-45EA-B220-F7B03AFB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68B806-7E32-4C09-9FAE-D0F5842D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126DD0-0366-495A-9F72-A48DF170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DF542D-2909-4E4B-B179-289E531F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6CAF00-5311-4FC3-A340-EC7B4EE5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B74C55-B17D-42C4-B3A1-4B0FA5FB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A6818A-C662-4466-B8E8-4BB068C1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2FCFD5-CE81-4630-B478-3F2F8946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5FF0BD-77F4-4B0C-81BD-FE499409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2835C4-217E-4CEA-B022-6FDC7704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78DF07-5B42-49E6-A90B-0A351FC9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962475-2913-40B8-BD9B-C8CD1155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5D1DF7-32A1-4176-B4BE-FAC1C117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CE36B5-99DA-4D56-975E-712D56B7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35E88D-5282-4B32-B6E3-7F5ADECB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CBC956-4C8D-4C90-B7FC-3C2B78AB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BFE111-2CA1-4D4C-97DB-5C6BA147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AB3199-BEF7-4C74-8995-7E3D222D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E9F870-7F1F-45F3-A348-B1D70E1E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6557F9-C8DE-414D-8668-B327AD27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3FFEBF-419F-4036-83BE-183A4031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3DE7F7-A4FF-4331-835D-6FE1F862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FB06E7-DEBC-44CC-B2FC-97F86B82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09D9B7-C023-4ED4-A0C0-CE866B66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667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5882"/>
            </a:srgbClr>
          </a:solidFill>
          <a:ln xmlns:a="http://schemas.openxmlformats.org/drawingml/2006/main" w="9525">
            <a:solidFill>
              <a:srgbClr val="B7C6D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165F1A2-9771-44FC-97C7-43C8B0D9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0010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F7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F4F77"/>
                </a:solidFill>
                <a:latin typeface="PingFang SC"/>
                <a:ea typeface="PingFang SC"/>
                <a:cs typeface="PingFang SC"/>
              </a:rPr>
              <a:t>人民日报案例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3DBABE-DE96-42A6-B505-B3F7F0A9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12573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看起来是多篇文章，其实都在讲同一件事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AAE226-8254-41E6-9D66-53E7BB8E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90875"/>
            <a:ext cx="4762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980"/>
            </a:srgbClr>
          </a:solidFill>
          <a:ln xmlns:a="http://schemas.openxmlformats.org/drawingml/2006/main" w="19050">
            <a:solidFill>
              <a:srgbClr val="B5483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01F6DFF-ABEC-4C7E-B4DB-DE90F28C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9087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8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B8DBBDD-2522-4E23-88DB-1F8A4187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00425"/>
            <a:ext cx="4248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涉企执法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50FCB8E-F457-4415-9E42-6C6E332B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876675"/>
            <a:ext cx="4248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接住企业对乱检查、乱罚款、标准不一的担忧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4BF9EE-1DF0-4103-9AE9-DCFE36AB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90875"/>
            <a:ext cx="4762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980"/>
            </a:srgbClr>
          </a:solidFill>
          <a:ln xmlns:a="http://schemas.openxmlformats.org/drawingml/2006/main" w="19050">
            <a:solidFill>
              <a:srgbClr val="1F797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8E35C68-E5FE-41C4-A184-678683BD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9087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9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32C7A06-6756-479C-AA80-FF863753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400425"/>
            <a:ext cx="4248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完善制度机制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A396703-209C-4AD5-9C94-4C4B3BF5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876675"/>
            <a:ext cx="4248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把群众诉求纳入清单办理和闭环反馈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97F230-4424-49DE-8077-BE342356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3190875"/>
            <a:ext cx="4762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980"/>
            </a:srgbClr>
          </a:solidFill>
          <a:ln xmlns:a="http://schemas.openxmlformats.org/drawingml/2006/main" w="19050">
            <a:solidFill>
              <a:srgbClr val="C39A3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C766C87-CBA9-4317-86C2-2F8C7157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319087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9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AE81752-7792-4BB3-9DF8-D422430E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1575" y="3400425"/>
            <a:ext cx="4248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合约食堂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6A5C093-0D31-4C32-AA4E-6853E911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1575" y="3876675"/>
            <a:ext cx="4248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给酒席攀比治理一个可接受的替代空间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47977AD-46E4-4A1C-8323-F5C0141B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905500"/>
            <a:ext cx="7524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980"/>
            </a:srgbClr>
          </a:solidFill>
          <a:ln xmlns:a="http://schemas.openxmlformats.org/drawingml/2006/main" w="19050">
            <a:solidFill>
              <a:srgbClr val="1F4F7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962DBFC-9D53-4120-8118-D8712BC1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9055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710BC72-8A5E-42B8-95E0-3CCB8CC1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6115050"/>
            <a:ext cx="701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潮汐菜场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0D0D4F2-1FAF-4D06-A81F-23395B50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6591300"/>
            <a:ext cx="70104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用时间错峰接住买菜需求和道路秩序两难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5685DB1-FDC5-4E72-8EE0-B135C067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905500"/>
            <a:ext cx="7524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980"/>
            </a:srgbClr>
          </a:solidFill>
          <a:ln xmlns:a="http://schemas.openxmlformats.org/drawingml/2006/main" w="19050">
            <a:solidFill>
              <a:srgbClr val="1F797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7FB227E-2D4A-47FC-923B-FC81A223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9055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9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10CA0AF-2B70-49DA-A196-49021E3E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115050"/>
            <a:ext cx="701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群众来论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0A4F87C-0836-43B8-B83C-851F9B0A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591300"/>
            <a:ext cx="70104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职责有边界，但群众找上门的问题要先接住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C427DD2-D566-4F02-8F12-E671E919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429625"/>
            <a:ext cx="1428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共同逻辑：不是把问题推开，而是让问题进入办理过程。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6599174-2ADD-4C9F-B78A-7D5BFF26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67875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人民日报 2026-05-22 教研转译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942C423-BC73-4BAC-BD61-EC0563FD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9667875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03 / 08</a:t>
            </a:r>
          </a:p>
        </p:txBody>
      </p:sp>
    </p:spTree>
    <p:extLst>
      <p:ext uri="{BB962C8B-B14F-4D97-AF65-F5344CB8AC3E}">
        <p14:creationId xmlns:p14="http://schemas.microsoft.com/office/powerpoint/2010/main" val="654130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DDDD91-D621-4278-9AB4-B25E9C0C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8AF5D-CCAD-432C-B860-15517217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25AB62-14C5-4579-8051-0B9DA5DF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9ADBA-46BC-456A-8AB8-96877F2E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55AA7-7DA7-49B4-ABFA-37E6F4BF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1F6D7-B391-4A77-82C8-CBA35392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9B0FC8-DAAE-4D2D-BADC-FBE7F0F6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2C612-8CC7-4D39-8B43-2D96CC0A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3727C-8E10-4DC8-A82A-182AA93D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03B258-B45B-4CFF-8274-A384228D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F05AD5-A27E-4DCA-8622-A37C0956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210FB-DC66-42CA-B919-3D2B989F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7DF8B1-3B95-4BF2-8E13-C6FDD037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79D68-5C85-4482-B079-FE9EC7E1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C70BC4-94B1-46D2-80DB-EEA9A6F8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C51215-5C9D-4604-A724-E68199F7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C40A66-ACF1-4E96-9F4E-E4A59ADD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BC1BC9-DB42-4152-8256-6AEA8B7C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8D4B08-D378-4AC3-AC16-9EF68C95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FC0DB8-4C5A-481C-B499-5BC27E54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279EF6-26B8-45FB-B37A-B4D4599D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D92A66-7197-45A3-9457-AEDA2BA8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30D0F5-BD89-4B5A-835E-E618E084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F016A0-01C5-4201-83CC-76C8B3AA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8F2B3C-F475-48F2-8887-E3C49DB5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5C69F8-2CD7-4275-8932-DDFE806E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6085C7-F72E-4115-84B2-67B0C11A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82600B-563D-4A83-AE54-87A7CE65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5F6947-BECD-42DE-8B37-9DBF4E84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9ECF28-92BF-4A9E-A0C2-61402783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CCFAA8-BD41-410B-987E-5CE38E9D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4874AF-AFD6-4A52-B518-56E889D1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525419-6279-4AC8-841E-1DC56815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206A55-7500-4542-B348-EB65BA87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0FF735-36C6-420B-993C-4E48DC4E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61C7EB-0EE1-4F20-B3A4-596EAE06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D5BBCA-361F-414D-B312-A7BC2A9C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178F7C-9632-4582-9BD1-FA63BD7B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0E8143-CC60-4AF1-B210-6A0BAB3F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8A4127-7520-468E-AD4A-CA0B7AD9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069432-75A2-4817-B1F2-1582E16E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667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5882"/>
            </a:srgbClr>
          </a:solidFill>
          <a:ln xmlns:a="http://schemas.openxmlformats.org/drawingml/2006/main" w="9525">
            <a:solidFill>
              <a:srgbClr val="B7C6D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6F37E7-99FE-409C-84BB-B776B1F9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0010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F7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F4F77"/>
                </a:solidFill>
                <a:latin typeface="PingFang SC"/>
                <a:ea typeface="PingFang SC"/>
                <a:cs typeface="PingFang SC"/>
              </a:rPr>
              <a:t>核心框架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A22435-7AB3-4B7F-99A5-3CFA9274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1047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4950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把问题接住的五步治理链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87B8C1-11B4-41C8-8239-91AA5110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686300"/>
            <a:ext cx="1381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6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FE062C6-BADD-4C99-97D9-97EBFF86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571875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9050">
            <a:solidFill>
              <a:srgbClr val="1F797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BE46FC3-07D8-4FFE-A25D-982F2F37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00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1F797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6E5ED0E-8AD3-403A-85C3-B238E836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957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797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F7972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A7F7DFC-C9B2-456B-9CF4-EDAA15D7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05325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看见问题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9D580BF-CB80-409E-BBD9-B8EE41D9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走访 / 诉求 / 数据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125C4B3-D106-402D-9A15-B4799A19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71875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9050">
            <a:solidFill>
              <a:srgbClr val="B5483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3E3864A-B4B9-4B45-BEE9-E942F826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00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B5483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2758902-E52A-4361-9AC6-89A2DA25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957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5483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B54836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7DC30D3-C3D0-46F6-9895-B117BBE6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05325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接住问题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68500AE-C881-4C47-AA89-E171146B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5300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不推开 / 不悬空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6C1695A-8640-44AD-BE1D-2B1DF55B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571875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9050">
            <a:solidFill>
              <a:srgbClr val="1F797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7E94C34-4E85-4514-89E4-E3AC1236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00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1F797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526A4ED-257C-40EE-B82B-83647947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957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797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F7972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48A63B7-6E3A-43FE-B652-1E9FCE42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05325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拆解问题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35807E3-17E1-4338-BD73-A2BB63AD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5300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拆环节 / 找症结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B1F9AA6-B386-40DF-926C-DE2426DF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571875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9050">
            <a:solidFill>
              <a:srgbClr val="1F4F7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9FF72C5-C69F-4B3B-94C7-28DD6D8A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800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1F4F7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47AE19A-8161-494F-A719-9A353B3C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8957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4F7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F4F77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7452DE6-F2C1-4DAE-A764-1845E447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05325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协同解决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13DE2FD-6702-431F-903E-98794C6A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5300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牵头 / 参与 / 机制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6FE7199-D1F8-42DE-97D1-C29D9AC9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3571875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19050">
            <a:solidFill>
              <a:srgbClr val="C39A3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10C20A4-5600-49E2-8DD4-97DA1F6A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3800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C39A3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81E5F08-CE7F-4E83-98E3-54CF35F5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0350" y="38957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39A3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C39A3B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9FD92DC-A6DC-4FF7-B664-527AA927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4505325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反馈长效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A268EC3-07D1-4ED6-83DC-CB8444A3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495300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有回应 / 能固化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F57C3AF-DB16-43C1-81CF-A1BBF23E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334250"/>
            <a:ext cx="1352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写申论时，它是一条对策链；答面试时，它是一条处理链。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C033953-0CA0-42A7-B8BD-2B0B2F7C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67875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人民日报 2026-05-22 教研转译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833E5E7-D58C-4915-8C8C-29D17FEB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9667875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04 / 08</a:t>
            </a:r>
          </a:p>
        </p:txBody>
      </p:sp>
    </p:spTree>
    <p:extLst>
      <p:ext uri="{BB962C8B-B14F-4D97-AF65-F5344CB8AC3E}">
        <p14:creationId xmlns:p14="http://schemas.microsoft.com/office/powerpoint/2010/main" val="40208624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6244E5-8485-4A43-8469-21B6DE38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90D30-1D34-40BC-9D83-E8A8CE90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AAA52-F6A5-4342-9440-8FF9A7C3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86414-9B0A-41DA-92A2-6367731D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D0BCC-35AA-43E0-83B2-D5EDBC9B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6E8D9-1547-4AE3-AA2A-7705BA5C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F8A1B-1FB1-4CD1-81AD-6F3F7042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4779E-ED14-4C30-92E4-6F2E5F6E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6A7D0-686D-4E99-94EF-1E009266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031E6E-5FE8-4E30-8743-4B979756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8A435B-27F8-4F91-A230-CD60EC63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3844AD-9ED0-4AE5-8E6D-9F9C948A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38FA1-5181-4BBB-AC22-D10C602A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AC476-25E2-4621-829D-44C1C370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B10AA2-0B32-4541-A0C9-DF0FC487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29926B-3D29-4DF7-A030-032512BD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8597E0-7953-4EC5-8F99-C6EB814E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DFC186-D8B7-4CFB-8B01-56CB1A2E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92A858-9D8A-4357-B832-E5583E1C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8E5508-D3BF-4365-9EE2-44E84AF3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8B1C9D-6AFB-4250-BA0C-FB548012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830746-2660-4A8E-8348-8EAA9B89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9B536B-E092-48E7-9529-3C763764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665869-0004-4449-8271-18078753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EAC0F6-805D-4F65-A447-2313E281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832E20-6D96-4C30-BFC2-49A25CE8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8F92C7-FD92-41FB-877C-3A3C35FB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944F15-2077-4C8D-8519-D39DDA2B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DED1F7-9A3E-4FF4-B0E7-7899CCED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815C2E-E4C1-43CE-B983-4389DD9A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789CA8-A966-4255-98D1-A00A547C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C6C4CC-A587-4302-BF4F-0F4B4550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8B30C2-91F2-4CBA-A6B5-2822980D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15B6F3-0737-45B6-BC83-4AA2097D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020E77-79AE-4CF5-83D4-BCB9838F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80A52C-B884-440F-872C-7B1FA932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01C1C7-2B37-4170-8793-4F4DF88C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1F9AA0-C9A3-45AC-B710-A37CC352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E91B20-65B1-41A5-875B-3F64C986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0F72C3-C189-4D6D-8606-38075351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0FE010-D629-4130-A5EC-69F9186F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667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5882"/>
            </a:srgbClr>
          </a:solidFill>
          <a:ln xmlns:a="http://schemas.openxmlformats.org/drawingml/2006/main" w="9525">
            <a:solidFill>
              <a:srgbClr val="B7C6D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834DA8-9615-49C4-8A99-FFD09343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0010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F7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F4F77"/>
                </a:solidFill>
                <a:latin typeface="PingFang SC"/>
                <a:ea typeface="PingFang SC"/>
                <a:cs typeface="PingFang SC"/>
              </a:rPr>
              <a:t>申论转译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B4B713-5EA5-44D0-A45E-0E11D747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11620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把口号改成能得分的治理表达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4B697E-BCEE-43A4-8691-6115FEE2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7810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980"/>
            </a:srgbClr>
          </a:solidFill>
          <a:ln xmlns:a="http://schemas.openxmlformats.org/drawingml/2006/main" w="19050">
            <a:solidFill>
              <a:srgbClr val="B5483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8AF534-19DD-4359-B7E2-5AA0EB4B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8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1B9EF9-4806-4E5F-B4DA-8B617241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352800"/>
            <a:ext cx="7296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不要只写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39AEDB-A9F1-4865-A2B0-CF4F4200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829050"/>
            <a:ext cx="7296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加大服务企业力度。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C6AB0A-E2A6-4FD2-9D53-FE2219B8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7810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980"/>
            </a:srgbClr>
          </a:solidFill>
          <a:ln xmlns:a="http://schemas.openxmlformats.org/drawingml/2006/main" w="19050">
            <a:solidFill>
              <a:srgbClr val="1F797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43C4402-9D91-4323-9918-108F0092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9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4DC52CE-61BC-49DA-B305-81B46A9A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352800"/>
            <a:ext cx="7296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可以改成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91F1B40-9CDE-4DC9-8957-779B8C18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829050"/>
            <a:ext cx="7296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让监管更精准、执法更规范、标准更统一、诉求更畅通。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0DAF94C-2936-464F-AE74-4F5CD774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53125"/>
            <a:ext cx="7810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980"/>
            </a:srgbClr>
          </a:solidFill>
          <a:ln xmlns:a="http://schemas.openxmlformats.org/drawingml/2006/main" w="19050">
            <a:solidFill>
              <a:srgbClr val="B5483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24BC062-1CAD-4A49-987B-96B3E0A8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53125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8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D98D8D1-8679-4A2C-A7AC-DE95EE5D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6162675"/>
            <a:ext cx="7296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不要只写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BC65B6E-15F5-4F8F-BA9E-5C23783C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6638925"/>
            <a:ext cx="7296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坚持以人民为中心。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A54BDA9-6D83-454B-840D-0912D612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953125"/>
            <a:ext cx="7810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980"/>
            </a:srgbClr>
          </a:solidFill>
          <a:ln xmlns:a="http://schemas.openxmlformats.org/drawingml/2006/main" w="19050">
            <a:solidFill>
              <a:srgbClr val="1F797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8D234D8-DC99-4BDC-A83A-44D48EF1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953125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9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4FED4AE-C54F-4CB9-A44A-C5D9A614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162675"/>
            <a:ext cx="7296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可以改成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F6C491F-223D-45D1-8562-CA9C1569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638925"/>
            <a:ext cx="7296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把群众生活中的堵点、企业经营中的痛点、基层执行中的难点纳入办理过程。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292BD8A-FD57-4E71-AD05-91ECDC2C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67875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人民日报 2026-05-22 教研转译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F271696-D981-4204-B353-8DCC6951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9667875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05 / 08</a:t>
            </a:r>
          </a:p>
        </p:txBody>
      </p:sp>
    </p:spTree>
    <p:extLst>
      <p:ext uri="{BB962C8B-B14F-4D97-AF65-F5344CB8AC3E}">
        <p14:creationId xmlns:p14="http://schemas.microsoft.com/office/powerpoint/2010/main" val="806736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260103-56B1-4B9C-AC61-183BA3D8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A6B40-C6FB-4916-9803-11B581D1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5074F-E769-4350-B34D-E77E54FC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4BFCA-FF2E-4136-9D61-5A4E028D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EA05A-69D0-4537-874F-5EDFF96E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6B35F8-6C0C-4AF6-BFC7-C0A00FFF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B8AB6B-0A35-4E6D-A410-C1382B67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D88BF5-708F-4FD5-8924-9DF7B51C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335DCA-E5FF-4508-9B0D-F13BC524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4A0B53-199B-4D00-B0D2-D4FC7323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4A4A16-68D0-4293-8A48-019A44DD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CBD318-50B9-44CF-8049-8BFC7717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BBCD95-27CA-42FE-9AE3-48E95B6C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B68FD4-6DAC-4EBC-9FCC-1BDF7D97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3BA2EB-D061-4DD8-91EE-8CF94447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FA6C82-8F51-4E19-B940-EC81DD39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29109A-466F-497A-A7FD-B4B5812F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ECB5F5-1B14-47F9-855B-9EEB6941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C3B326-87F2-4915-A9A1-78E1BB0A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287AE4-5FD0-43AF-B49E-DEEA3AC9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14A0F7-3A68-41EB-964A-E339ECDE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CBF874-B71C-41C4-83F7-430A3E23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F7F6B1-6AE7-49CF-AEF1-0CD0A4E9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22B37D-4F1F-45C1-81ED-6EC0DA78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E246D3-41E7-4B4A-A20D-E7A7771B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05C696-FE31-46F8-B78D-48B577E2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BC1CFA-8BA3-421B-A9A6-B87772F2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48DB9A-211B-4FD6-BEE1-327A4697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F5F6F6-E286-4A0A-AE50-00CA8E8F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B8E9F8-8214-4DBE-9E36-E76800E2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DB6EB6-35B2-443B-8A0D-6A64C8B7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9AB275-03BA-43B6-B940-E8CC6C5F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923DAF-9380-44F4-BDD1-5F549480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644E0C-A3D8-4531-8416-BE81C4C8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110D5D-3CA3-42FB-882A-0DE24EB8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C2B47B-EDA7-4259-B15E-E674208F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05F07F-285F-4927-A61E-ACDF6FD3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5B113A-0EDE-4345-9AA2-F518817B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C8751D-03F4-470C-8C3B-A7218ED1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14B59C-849A-4738-9CF5-41820A3A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F1E5EF-6F57-4A4C-B645-6F8C6699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667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5882"/>
            </a:srgbClr>
          </a:solidFill>
          <a:ln xmlns:a="http://schemas.openxmlformats.org/drawingml/2006/main" w="9525">
            <a:solidFill>
              <a:srgbClr val="B7C6D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928F3B-438E-4A43-856D-B324E7C9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0010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F7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F4F77"/>
                </a:solidFill>
                <a:latin typeface="PingFang SC"/>
                <a:ea typeface="PingFang SC"/>
                <a:cs typeface="PingFang SC"/>
              </a:rPr>
              <a:t>面试示范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19969B-8FF0-4AF6-8B63-5FCD1E32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12573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群众反映小区出入口拥堵，你怎么处理？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216EAC-F05E-42FC-ABC1-08EE2AD3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4762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980"/>
            </a:srgbClr>
          </a:solidFill>
          <a:ln xmlns:a="http://schemas.openxmlformats.org/drawingml/2006/main" w="19050">
            <a:solidFill>
              <a:srgbClr val="B5483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7C32CC-AFD4-4777-90BD-9D39964F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8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2A0F74-D503-465B-A2D5-1D1E5005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352800"/>
            <a:ext cx="4248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题目要点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5AC8825-5B4A-4261-B472-B034977E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829050"/>
            <a:ext cx="42481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道路狭窄</a:t>
            </a:r>
          </a:p>
          <a:p xmlns:a="http://schemas.openxmlformats.org/drawingml/2006/main">
            <a:pPr algn="l">
              <a:def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早晚高峰拥堵</a:t>
            </a:r>
          </a:p>
          <a:p xmlns:a="http://schemas.openxmlformats.org/drawingml/2006/main">
            <a:pPr algn="l">
              <a:def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存在安全隐患</a:t>
            </a:r>
          </a:p>
          <a:p xmlns:a="http://schemas.openxmlformats.org/drawingml/2006/main">
            <a:pPr algn="l">
              <a:def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领导让你协调处理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D22F8C2-3E84-47D2-A8A2-48867058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57500"/>
            <a:ext cx="828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980"/>
            </a:srgbClr>
          </a:solidFill>
          <a:ln xmlns:a="http://schemas.openxmlformats.org/drawingml/2006/main" w="19050">
            <a:solidFill>
              <a:srgbClr val="1F797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132EC9-4B5F-4127-AF55-A2D1E5C6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F7972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F7972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8FA41A7-7DEC-41C9-A9DE-4A535348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48000"/>
            <a:ext cx="619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接住诉求，现场核实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C5436B-A011-4A6D-8CD7-582193D3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24300"/>
            <a:ext cx="828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980"/>
            </a:srgbClr>
          </a:solidFill>
          <a:ln xmlns:a="http://schemas.openxmlformats.org/drawingml/2006/main" w="19050">
            <a:solidFill>
              <a:srgbClr val="1F797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2DDDD9-C56C-4C77-B531-F459AB05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95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F7972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F7972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662C48E-30A5-485B-80AB-1002DE5F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114800"/>
            <a:ext cx="619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多方会商，拆清问题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1242DC9-F06B-498C-AD2B-9728AE66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91100"/>
            <a:ext cx="828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980"/>
            </a:srgbClr>
          </a:solidFill>
          <a:ln xmlns:a="http://schemas.openxmlformats.org/drawingml/2006/main" w="19050">
            <a:solidFill>
              <a:srgbClr val="1F797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CFF6C37-8D27-41E7-8ECD-FFB784B9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625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F7972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F7972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49B0334-5550-4C2D-B347-B931753C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181600"/>
            <a:ext cx="619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分类处理，形成方案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252668E-F417-47CD-A7D8-14EF1A05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6057900"/>
            <a:ext cx="828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980"/>
            </a:srgbClr>
          </a:solidFill>
          <a:ln xmlns:a="http://schemas.openxmlformats.org/drawingml/2006/main" w="19050">
            <a:solidFill>
              <a:srgbClr val="1F797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CEE560F-2F4B-4A54-9744-8F936F71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2293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F7972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F7972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6D4DB51-377B-4ABA-86EA-DC7302ED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248400"/>
            <a:ext cx="619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公开回应，说明进展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CFCC5C6-B25A-4561-82F2-E455BEFE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124700"/>
            <a:ext cx="828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980"/>
            </a:srgbClr>
          </a:solidFill>
          <a:ln xmlns:a="http://schemas.openxmlformats.org/drawingml/2006/main" w="19050">
            <a:solidFill>
              <a:srgbClr val="C39A3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4DAA98C-B538-4712-91DE-3219CA7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7296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C39A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C39A3B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43D6898-1020-4900-BDF2-6E15963A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315200"/>
            <a:ext cx="619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观察反馈，长效维护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AB75841-4223-4959-BAA8-372D5021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305800"/>
            <a:ext cx="1381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重点：不是背流程，而是让考官听见你真的能把问题办下去。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447F6FE-B6EC-4496-95B5-DD65929F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67875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人民日报 2026-05-22 教研转译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CE2A99B-3B86-4DCF-A663-B12C7786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9667875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06 / 08</a:t>
            </a:r>
          </a:p>
        </p:txBody>
      </p:sp>
    </p:spTree>
    <p:extLst>
      <p:ext uri="{BB962C8B-B14F-4D97-AF65-F5344CB8AC3E}">
        <p14:creationId xmlns:p14="http://schemas.microsoft.com/office/powerpoint/2010/main" val="31878246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E93351-9BBD-4F2D-84D7-CEE5B598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C9E94-B280-4E6D-B4DD-00CB273C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193A8D-9570-4AD3-8D49-01DB808E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31CC0-27FF-45CE-A17A-0C9EBFB5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6B58A-F771-4801-9B68-375D4864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9C9A9-D83D-42C4-A3D3-BDFDC455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AFA58-801C-48AB-A969-B0FC7359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84693-8588-4AE9-8435-F52F08C8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62CEC7-A5CA-405A-BD12-E47FF8FF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7BC7A9-29F7-4947-921A-2D642FEB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E93402-4A12-45A1-B16C-A1E7E859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B44E4-4BA8-41ED-9387-6E606164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70E09-14A1-4CC1-B58C-EDA197AF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E8095D-3016-49BC-8021-C5458DDA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F11DBB-7E08-4BFA-BF31-826DB656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1AF21A-D2BE-449E-B85A-8D8723D9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53F351-0986-46B7-B691-78DD00EF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6A6A27-80E3-4519-98E7-EE1F099F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875A2B-5C82-4641-96AF-AFB1E25D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1B5955-04C7-4552-AA81-6926003C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C9524F-9BCB-4411-B5E5-15651668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CCE020-9525-4497-80AB-480C7404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362870-F377-4D4F-8B90-238B69EB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30A9BF-4094-4785-8E25-737EA46C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C0E57E-30D0-46AE-B1C7-C9D4B9A9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52D58C-E9AF-4B82-A11E-FBAD734A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A8F6D3-3E66-41F2-A927-CB646A43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7CB70A-816D-4734-A00B-F59541EA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65A410-A56C-482D-B1D9-1DAEA976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EB300C-1329-4017-8F3D-098994D1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BBABD6-3A81-4C78-9B19-E480EE96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DECB25-9FB8-49D5-81C7-FF0F4D90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3E5774-B798-49B2-8F45-C1327D2F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D7B6D4-44C9-4100-B914-5646BB48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3A20A8-9C51-4C92-8861-F8CA4EE6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59BA33-BBCE-44D7-AF22-3BFE4A87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56F763-56E5-484C-94CB-9A3A72CC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60B8F0-A0D8-4F17-ABB1-9F184AE7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D1E9F9-3147-4C00-8BE0-E88D6860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ECCF56-D149-4A1A-982F-EFAFBBBB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F77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9373BD-4021-4082-A58F-086451F4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667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5882"/>
            </a:srgbClr>
          </a:solidFill>
          <a:ln xmlns:a="http://schemas.openxmlformats.org/drawingml/2006/main" w="9525">
            <a:solidFill>
              <a:srgbClr val="B7C6D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3CF9C1-B413-4469-BE83-5A1D9FD6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0010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F77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F4F77"/>
                </a:solidFill>
                <a:latin typeface="PingFang SC"/>
                <a:ea typeface="PingFang SC"/>
                <a:cs typeface="PingFang SC"/>
              </a:rPr>
              <a:t>课堂练习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50D611-3B76-40C9-81F8-A1FE6567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12382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用五步框架，把材料现场转成答案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4F168F-2F87-4CF0-B195-263C9B93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38500"/>
            <a:ext cx="4572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980"/>
            </a:srgbClr>
          </a:solidFill>
          <a:ln xmlns:a="http://schemas.openxmlformats.org/drawingml/2006/main" w="19050">
            <a:solidFill>
              <a:srgbClr val="1F797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7EA80E1-0BBD-424F-A665-1832D8CF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38500"/>
            <a:ext cx="762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9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0DCFE8-7139-4C90-ABEF-AD149889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48050"/>
            <a:ext cx="4057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练习 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5F5C8DE-7F69-4426-98D7-48A0C841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24300"/>
            <a:ext cx="40576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流动摊贩占道经营，但居民有就近买菜需求。你怎么看？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74230B3-9E85-4124-8463-AD3628C8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4572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980"/>
            </a:srgbClr>
          </a:solidFill>
          <a:ln xmlns:a="http://schemas.openxmlformats.org/drawingml/2006/main" w="19050">
            <a:solidFill>
              <a:srgbClr val="B5483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A55D124-675B-4420-AFD0-ED76D97C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762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8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4BA0ECF-4009-4CBD-B8C7-4B724DDC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48050"/>
            <a:ext cx="4057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练习 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B6641A9-722F-4782-9AE7-A3313F06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24300"/>
            <a:ext cx="40576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企业反映检查频次高、标准不一。你如何提出对策？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0939B6-F41A-4500-A005-D1F20663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238500"/>
            <a:ext cx="4572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980"/>
            </a:srgbClr>
          </a:solidFill>
          <a:ln xmlns:a="http://schemas.openxmlformats.org/drawingml/2006/main" w="19050">
            <a:solidFill>
              <a:srgbClr val="C39A3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65A614C-866D-4AE2-80A1-B296E046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238500"/>
            <a:ext cx="762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9A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4679A89-4086-4C84-8EEC-40F2959D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448050"/>
            <a:ext cx="4057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练习 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56DE343-5CC8-471C-A18A-6C44A54A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924300"/>
            <a:ext cx="40576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群众求助事项不完全归你管。你会怎么处理？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21E4890-C15B-4AEA-9B18-3871FDE8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7429500"/>
            <a:ext cx="1390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B7C6D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98ED3F4-0BE7-428E-A6C9-08C02710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7658100"/>
            <a:ext cx="1314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73044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173044"/>
                </a:solidFill>
                <a:latin typeface="PingFang SC"/>
                <a:ea typeface="PingFang SC"/>
                <a:cs typeface="PingFang SC"/>
              </a:rPr>
              <a:t>作答要求：至少写清“谁来接、拆成哪几件事、哪些部门协同、如何反馈长效”。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0065807-0C8A-4A4A-BB23-9831B027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67875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人民日报 2026-05-22 教研转译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E1B6663-FDE0-4B97-8398-60F2D144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9667875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07 / 08</a:t>
            </a:r>
          </a:p>
        </p:txBody>
      </p:sp>
    </p:spTree>
    <p:extLst>
      <p:ext uri="{BB962C8B-B14F-4D97-AF65-F5344CB8AC3E}">
        <p14:creationId xmlns:p14="http://schemas.microsoft.com/office/powerpoint/2010/main" val="103123208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DA140D-E327-4912-8BA7-9B463CAE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5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C56B2D-1ADF-4DCA-946E-E80A78F2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29296-3BC3-41E1-9BF0-340F35BC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A0C6F-C152-4D0E-A037-90DD4BAC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5C073-F57F-4C1E-943E-F69874A5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43CD6-EC2D-409D-A457-CB23C3FC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2F1EC-BB6E-424F-A06A-FAA5E9AA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5B9C10-3F93-463D-8E07-B30C5628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0CB78-D0EA-42C1-88B5-86A9570D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3F0603-2F68-4E0F-AA19-24A495DF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A6FA25-17B3-438F-B2FE-A05D7B8E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36E04F-ACAA-47A5-8E83-3B3121D3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6E1C0E-3FDF-4D6F-B9B5-C4D7728D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6A0F29-6EA8-41F0-9592-6B4CC0A0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68AFD7-1421-430E-B2E2-0C8F632F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A3B243-4CC3-4301-B502-7A05DA3F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7ED5AC-FB49-4A81-9028-89D2891A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751512-01C7-41A7-957F-60BC4AF8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E27CD2-2308-4521-A946-E383A0CB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40003D-03B5-4820-8222-A24B1A45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430661-494A-46D0-914C-CF540CEB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5AFE58-8293-4298-BBA6-5FA77BB9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FB0400-4AA8-46B0-85CD-2657E72B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B9F283-0222-4EE0-BA19-90295FAD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1C2642-0FDD-43A2-A4CD-2352874A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B92DCA-A1B0-4AE0-B974-532F518E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0"/>
            <a:ext cx="952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521600-1F9F-423F-872F-E279BA0A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638544-5D58-4DA8-9F27-FAEF2380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6EDEB7-437C-42FE-9FCF-3BC3252C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1595CA-D797-4D84-90AC-42A833BC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7DE1FD-CC26-45AE-AFBD-CE7B546E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BBFBAB-B241-4CAD-97F8-ECA0A3EA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032527-E9B0-4993-B68C-0CDC3395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71B170-8D05-4ADF-B6BC-F586076B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3E1846-0E40-4EB0-90DA-F76EDC13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6308E7-7F32-4F73-AA0C-F132E330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9AA5EA-B267-436E-BFE9-AFBCFDDC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A63440-6D6F-461B-999C-9B3F2CDC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B76E79-7667-4450-9613-10C11412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B21535-4117-4F62-A577-64844F65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906000"/>
            <a:ext cx="1828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E8B493-6A19-4B83-ABCD-D79F99BE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667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8DF9C">
                <a:alpha val="43922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D77395-B698-4D58-AB6E-E391BA98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0010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DF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8DF9C"/>
                </a:solidFill>
                <a:latin typeface="PingFang SC"/>
                <a:ea typeface="PingFang SC"/>
                <a:cs typeface="PingFang SC"/>
              </a:rPr>
              <a:t>参考文章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FF5EDC-A544-4C3B-B8B4-8A57324A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10953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7EFE2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7EFE2"/>
                </a:solidFill>
                <a:latin typeface="PingFang SC"/>
                <a:ea typeface="PingFang SC"/>
                <a:cs typeface="PingFang SC"/>
              </a:rPr>
              <a:t>本课实际使用的人民日报材料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10AE03-3860-4C87-9E96-EA29DCFA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D77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8D77D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E78F09-2AFC-49D6-99F5-7AB34071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14625"/>
            <a:ext cx="1381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7EFE2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7EFE2"/>
                </a:solidFill>
                <a:latin typeface="PingFang SC"/>
                <a:ea typeface="PingFang SC"/>
                <a:cs typeface="PingFang SC"/>
              </a:rPr>
              <a:t>规范涉企行政执法专项行动取得明显成效｜第04版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5FEF08-554E-41EE-B42B-70D6611F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9092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8D77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8D77D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CF424F-F2B9-4E93-A1FC-D7282A5F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90925"/>
            <a:ext cx="1381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7EFE2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7EFE2"/>
                </a:solidFill>
                <a:latin typeface="PingFang SC"/>
                <a:ea typeface="PingFang SC"/>
                <a:cs typeface="PingFang SC"/>
              </a:rPr>
              <a:t>完善制度机制 更好造福于民｜第04版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CDD62E-4917-4D4F-A71E-50FB9DCE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6722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6C8B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66C8BD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091256-760E-4282-877B-2031928E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67225"/>
            <a:ext cx="1381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7EFE2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7EFE2"/>
                </a:solidFill>
                <a:latin typeface="PingFang SC"/>
                <a:ea typeface="PingFang SC"/>
                <a:cs typeface="PingFang SC"/>
              </a:rPr>
              <a:t>办酒席时当“饭店”，闲下来开农家乐｜第08版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2C543FB-D1A4-4CE1-B4FA-720964CB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4352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6C8B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66C8BD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2D39188-1CD8-414C-B930-6C9184FD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43525"/>
            <a:ext cx="1381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7EFE2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7EFE2"/>
                </a:solidFill>
                <a:latin typeface="PingFang SC"/>
                <a:ea typeface="PingFang SC"/>
                <a:cs typeface="PingFang SC"/>
              </a:rPr>
              <a:t>“潮汐菜场”里的治理智慧｜第08版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213F33-9883-44A8-93E5-DF18C43F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1982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6C8B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66C8BD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24C6743-8863-4247-ACDF-F2003DE0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219825"/>
            <a:ext cx="1381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7EFE2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7EFE2"/>
                </a:solidFill>
                <a:latin typeface="PingFang SC"/>
                <a:ea typeface="PingFang SC"/>
                <a:cs typeface="PingFang SC"/>
              </a:rPr>
              <a:t>群众的事就是我们的事｜第05版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7EFCED9-5B5B-4CD1-BA5C-09D56CDB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096125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6C8B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66C8BD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0DFC8F-C25A-452B-8B69-7B289552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7096125"/>
            <a:ext cx="1381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7EFE2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F7EFE2"/>
                </a:solidFill>
                <a:latin typeface="PingFang SC"/>
                <a:ea typeface="PingFang SC"/>
                <a:cs typeface="PingFang SC"/>
              </a:rPr>
              <a:t>“草原运河”映初心｜第05版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418FDE7-6D8C-4DC0-87FC-3D3DD3F2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477250"/>
            <a:ext cx="1504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7EFE2">
                    <a:alpha val="80000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F7EFE2">
                    <a:alpha val="80000"/>
                  </a:srgbClr>
                </a:solidFill>
                <a:latin typeface="PingFang SC"/>
                <a:ea typeface="PingFang SC"/>
                <a:cs typeface="PingFang SC"/>
              </a:rPr>
              <a:t>教研转译提醒：“把问题接住”是课堂表达，不是人民日报原文标题。使用时保留具体案例动作。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CD2E256-AECF-4C13-BE97-602F51D2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67875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人民日报 2026-05-22 教研转译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78CC5E5-7556-491D-9376-B7389B8F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9667875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7582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47582"/>
                </a:solidFill>
                <a:latin typeface="PingFang SC"/>
                <a:ea typeface="PingFang SC"/>
                <a:cs typeface="PingFang SC"/>
              </a:rPr>
              <a:t>08 / 08</a:t>
            </a:r>
          </a:p>
        </p:txBody>
      </p:sp>
    </p:spTree>
    <p:extLst>
      <p:ext uri="{BB962C8B-B14F-4D97-AF65-F5344CB8AC3E}">
        <p14:creationId xmlns:p14="http://schemas.microsoft.com/office/powerpoint/2010/main" val="6505684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2026-05-24T06:38:51.8240000Z</dcterms:created>
  <dcterms:modified xsi:type="dcterms:W3CDTF">2026-05-24T06:38:51.8240000Z</dcterms:modified>
</coreProperties>
</file>