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28886ea71f43bb" /><Relationship Type="http://schemas.openxmlformats.org/officeDocument/2006/relationships/extended-properties" Target="/docProps/app.xml" Id="Rbee30808a15e418e" /><Relationship Type="http://schemas.openxmlformats.org/officeDocument/2006/relationships/officeDocument" Target="/ppt/presentation.xml" Id="R597dd75f346b48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db4c972e344844"/>
  </p:sldMasterIdLst>
  <p:notesMasterIdLst>
    <p:notesMasterId xmlns:r="http://schemas.openxmlformats.org/officeDocument/2006/relationships" r:id="Rf5acc65c67834787"/>
  </p:notesMasterIdLst>
  <p:sldIdLst>
    <p:sldId xmlns:r="http://schemas.openxmlformats.org/officeDocument/2006/relationships" id="256" r:id="R6729127e83ab4991"/>
    <p:sldId xmlns:r="http://schemas.openxmlformats.org/officeDocument/2006/relationships" id="257" r:id="R170c1d1979c0430d"/>
    <p:sldId xmlns:r="http://schemas.openxmlformats.org/officeDocument/2006/relationships" id="258" r:id="Re5664f7b890b46b0"/>
    <p:sldId xmlns:r="http://schemas.openxmlformats.org/officeDocument/2006/relationships" id="259" r:id="Rd530dba8f6c14d39"/>
    <p:sldId xmlns:r="http://schemas.openxmlformats.org/officeDocument/2006/relationships" id="260" r:id="R7228a6b3702b4542"/>
    <p:sldId xmlns:r="http://schemas.openxmlformats.org/officeDocument/2006/relationships" id="261" r:id="Rdeda5f820e034691"/>
    <p:sldId xmlns:r="http://schemas.openxmlformats.org/officeDocument/2006/relationships" id="262" r:id="R2eb156e22cc042d1"/>
    <p:sldId xmlns:r="http://schemas.openxmlformats.org/officeDocument/2006/relationships" id="263" r:id="Rc5c905d5b5ee48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b4c972e344844" /><Relationship Type="http://schemas.openxmlformats.org/officeDocument/2006/relationships/theme" Target="/ppt/theme/theme1.xml" Id="Rfd7fc33168bc4279" /><Relationship Type="http://schemas.openxmlformats.org/officeDocument/2006/relationships/notesMaster" Target="/ppt/notesMasters/notesMaster1.xml" Id="Rf5acc65c67834787" /><Relationship Type="http://schemas.openxmlformats.org/officeDocument/2006/relationships/presProps" Target="/ppt/presProps.xml" Id="R67b6b74b660f46e8" /><Relationship Type="http://schemas.openxmlformats.org/officeDocument/2006/relationships/viewProps" Target="/ppt/viewProps.xml" Id="R8320f39410d34a66" /><Relationship Type="http://schemas.openxmlformats.org/officeDocument/2006/relationships/tableStyles" Target="/ppt/tableStyles.xml" Id="R3112abe448d243ae" /><Relationship Type="http://schemas.openxmlformats.org/officeDocument/2006/relationships/slide" Target="/ppt/slides/slide1.xml" Id="R6729127e83ab4991" /><Relationship Type="http://schemas.openxmlformats.org/officeDocument/2006/relationships/slide" Target="/ppt/slides/slide2.xml" Id="R170c1d1979c0430d" /><Relationship Type="http://schemas.openxmlformats.org/officeDocument/2006/relationships/slide" Target="/ppt/slides/slide3.xml" Id="Re5664f7b890b46b0" /><Relationship Type="http://schemas.openxmlformats.org/officeDocument/2006/relationships/slide" Target="/ppt/slides/slide4.xml" Id="Rd530dba8f6c14d39" /><Relationship Type="http://schemas.openxmlformats.org/officeDocument/2006/relationships/slide" Target="/ppt/slides/slide5.xml" Id="R7228a6b3702b4542" /><Relationship Type="http://schemas.openxmlformats.org/officeDocument/2006/relationships/slide" Target="/ppt/slides/slide6.xml" Id="Rdeda5f820e034691" /><Relationship Type="http://schemas.openxmlformats.org/officeDocument/2006/relationships/slide" Target="/ppt/slides/slide7.xml" Id="R2eb156e22cc042d1" /><Relationship Type="http://schemas.openxmlformats.org/officeDocument/2006/relationships/slide" Target="/ppt/slides/slide8.xml" Id="Rc5c905d5b5ee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142f47ef1f646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a4b033d4041ec" /><Relationship Type="http://schemas.openxmlformats.org/officeDocument/2006/relationships/notesMaster" Target="/ppt/notesMasters/notesMaster1.xml" Id="Re0ac357cb9b64a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56dca4d04f4d91" /><Relationship Type="http://schemas.openxmlformats.org/officeDocument/2006/relationships/notesMaster" Target="/ppt/notesMasters/notesMaster1.xml" Id="Rca9b2a40ec5243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6d15a8a28d46b6" /><Relationship Type="http://schemas.openxmlformats.org/officeDocument/2006/relationships/notesMaster" Target="/ppt/notesMasters/notesMaster1.xml" Id="R7d51833b72f14c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606a33e9ef453e" /><Relationship Type="http://schemas.openxmlformats.org/officeDocument/2006/relationships/notesMaster" Target="/ppt/notesMasters/notesMaster1.xml" Id="Ra344ff1113f444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baa6cdd586490e" /><Relationship Type="http://schemas.openxmlformats.org/officeDocument/2006/relationships/notesMaster" Target="/ppt/notesMasters/notesMaster1.xml" Id="R1a0ccbf24fa546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935a3f9f654d4d" /><Relationship Type="http://schemas.openxmlformats.org/officeDocument/2006/relationships/notesMaster" Target="/ppt/notesMasters/notesMaster1.xml" Id="R8e3639bc6cc747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3f25c0eb994215" /><Relationship Type="http://schemas.openxmlformats.org/officeDocument/2006/relationships/notesMaster" Target="/ppt/notesMasters/notesMaster1.xml" Id="Rdf5d6b72b14845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5cb9df3d8d4553" /><Relationship Type="http://schemas.openxmlformats.org/officeDocument/2006/relationships/notesMaster" Target="/ppt/notesMasters/notesMaster1.xml" Id="Rab6abc56084e4e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2903f7f6e40d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9560723d30d4cd0" /><Relationship Type="http://schemas.openxmlformats.org/officeDocument/2006/relationships/slideLayout" Target="/ppt/slideLayouts/slideLayout2.xml" Id="R0e95a8aea75743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5a8aea75743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2e631a8de5457b" /><Relationship Type="http://schemas.openxmlformats.org/officeDocument/2006/relationships/image" Target="/ppt/media/image.png" Id="R087a70cfc6094d19" /><Relationship Type="http://schemas.openxmlformats.org/officeDocument/2006/relationships/notesSlide" Target="/ppt/notesSlides/notesSlide1.xml" Id="R5caa0f77affc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885c549b645e8" /><Relationship Type="http://schemas.openxmlformats.org/officeDocument/2006/relationships/notesSlide" Target="/ppt/notesSlides/notesSlide2.xml" Id="R5b77d59f41114f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4b5f2f10d46de" /><Relationship Type="http://schemas.openxmlformats.org/officeDocument/2006/relationships/image" Target="/ppt/media/image2.png" Id="Rc5aac8fde4be4fff" /><Relationship Type="http://schemas.openxmlformats.org/officeDocument/2006/relationships/notesSlide" Target="/ppt/notesSlides/notesSlide3.xml" Id="Rc677a357ed5444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b9402ba2dc4656" /><Relationship Type="http://schemas.openxmlformats.org/officeDocument/2006/relationships/notesSlide" Target="/ppt/notesSlides/notesSlide4.xml" Id="R8759688bb64642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afe18da464265" /><Relationship Type="http://schemas.openxmlformats.org/officeDocument/2006/relationships/notesSlide" Target="/ppt/notesSlides/notesSlide5.xml" Id="Raabc382e269b43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2fb034505344e0" /><Relationship Type="http://schemas.openxmlformats.org/officeDocument/2006/relationships/image" Target="/ppt/media/image3.png" Id="R71a17627fe8e4bd6" /><Relationship Type="http://schemas.openxmlformats.org/officeDocument/2006/relationships/notesSlide" Target="/ppt/notesSlides/notesSlide6.xml" Id="R7268ee1bfd7f44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5d657305c34b7a" /><Relationship Type="http://schemas.openxmlformats.org/officeDocument/2006/relationships/notesSlide" Target="/ppt/notesSlides/notesSlide7.xml" Id="Rc229324c107d44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2eb79cc19d4781" /><Relationship Type="http://schemas.openxmlformats.org/officeDocument/2006/relationships/notesSlide" Target="/ppt/notesSlides/notesSlide8.xml" Id="Rf45e132ed1814d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DEC690-0B31-4EE4-A948-CC5F44F3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2CCC4-8D18-45C4-97CB-997C5A1F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2F243-9B4E-4416-8A5A-34CABC5E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C126B-43BD-41BC-8A79-84AF0DDB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CABAC-09BE-44FF-950C-6A05E28D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3783F-B1EF-4982-BCFC-98E00A9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28C7E-2FDD-40AE-A32F-6AE2155D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4970E-3358-43F1-A735-ECDFD994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F0349-31DA-49C9-89B9-3CDF5FC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830BB-6888-432A-AE9D-D62A76C0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ED6CC-30A5-4817-901D-FA6429D8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16B3F-BB2A-4AD5-89CB-A0B23453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课堂导入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AF1B7-7C9B-408D-8F78-CEE013D7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别再空喊“以人为本”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66AB8-D86B-4BEA-87E1-0E96602D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从人民日报一条上学路，拆出城市治理高分写法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2DF46-8A67-4933-86E9-03703FF6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8C8A5-D974-4C21-AEB7-7420F00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39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EC765-8567-4730-918B-B310D61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好的城市治理，不是把城市变得更好看，而是把公共服务嵌进人的日常生活。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a70cfc6094d19"/>
          <a:stretch xmlns:a="http://schemas.openxmlformats.org/drawingml/2006/main"/>
        </p:blipFill>
        <p:spPr>
          <a:xfrm xmlns:a="http://schemas.openxmlformats.org/drawingml/2006/main">
            <a:off x="7810500" y="1238250"/>
            <a:ext cx="2857500" cy="3810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04D07-4362-43A5-A0B1-5618E67C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F9883-4A6C-4A11-A0D3-D6DC1ECD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人民日报素材课｜城市治理与公共服务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50EBF-4853-4515-B599-99923728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29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04688-23C8-44AC-949A-407E2F6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5BE7F-189B-4619-83AA-19E2FC0B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08553-56E8-4934-A608-F85A353C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C6292-4ECC-49F6-8591-FDC388AE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5E98A-BF1B-4F20-8F71-B703CDB2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436B7-BFC7-43DC-BC2E-98490AD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F6A82-FE20-4A3C-A170-682698A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D5AA3-30BB-4940-9104-BFA9E900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AAAC5-3FF7-4456-AD8E-BBDC0A44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53F87-A0E3-4FC8-80ED-7AF2464E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65641-62E1-4BD1-8B0A-23AED30F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0ADF0-9291-444A-8BDE-5B6F4075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常见失分点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5AB17-0256-43CF-86B3-9305A0FA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为什么“以人为本”写不出分？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66109-6A9E-4129-B30B-B3E498E6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因为理念没有被拆成可执行动作，答案就会停在口号层面。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898B5-2B11-4A05-8471-1A7140FD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8"/>
          </a:solidFill>
          <a:ln xmlns:a="http://schemas.openxmlformats.org/drawingml/2006/main" w="14288">
            <a:solidFill>
              <a:srgbClr val="F4B8B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20609-49F2-4250-8941-95640EB9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95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空话写法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45142-0361-4816-AB1A-30805344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A4595-3CA5-43CF-93EB-3D7B2277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481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完善基础设施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DDBA7-91EA-457F-95C4-A7072D79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63D4F-F76C-44E4-9559-5ADFFE1D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提升服务水平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DAAE9-ED7C-4C14-A416-70379B39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2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DB2FA-D754-450C-A251-86C1586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339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坚持以人为本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5EA27-537D-4003-8FE1-71AC6D66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524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7BEB0-A042-4A7B-8074-80CEF1FF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9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换成五个追问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86C39C-88DC-4DB0-8F3A-C5812F31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FB8E1-830C-4EA8-AB94-81B5C14B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8142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问题怎么被看见？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2457B1-64EA-4461-81DA-BA1E670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0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CA56B-2B19-4052-8F63-AB5CDF3E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服务怎么送到身边？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9C5BC-9009-41DA-8138-17315582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33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432806-B8BA-4317-8AE8-E7275203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386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空间怎么重新设计？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D820BA-DA9E-47E2-8242-6B1F28F2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62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EA4CD7-039E-4D2F-9299-8290854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673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群众体验怎么反馈？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FA4BE9-B8A2-4C57-9EC5-EA0D512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91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85A726-C353-4BD6-8C77-F450DCE7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9592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机制怎么长期运行？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A8EF5D-0323-4AC1-BDDD-B242D0E2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1B84D-CDBB-41DC-8A07-85E0944B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人民日报素材课｜城市治理与公共服务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C2A2ED-D78A-4CE6-B48F-607A787A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37241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240556-0A7C-499C-A770-B4284667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05D83-E8E3-45C9-92AC-D1DB0A16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4DE13-0BF7-4D23-9C7B-FA1CEC5F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D740A-BD60-4F2E-AE44-46DE64C6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BD959-B9C7-4CAF-9EB0-3E0D1D5A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04F5F-BA8A-4D87-8F2D-95983ABC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93C81-E87C-44C7-ADB3-33FDFEAB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00B39-674D-4FB1-BA8D-D931D9EF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645E1-37EE-4667-9AB1-1B599787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0B966-D680-4E2C-AE86-B4994A85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9515B-2C8D-47DE-A033-15C5680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34108-6393-4DF5-9674-A91C9E8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人民日报案例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1A7DD-81DB-4114-A43E-9642E8D2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孩子每天走过的路，也是一道治理题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F3648-B3A7-489C-9510-4A0F7AD3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宁波“最美上学路”：把校门口最后 100 米，从通行空间做成成长空间。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ac8fde4be4fff"/>
          <a:stretch xmlns:a="http://schemas.openxmlformats.org/drawingml/2006/main"/>
        </p:blipFill>
        <p:spPr>
          <a:xfrm xmlns:a="http://schemas.openxmlformats.org/drawingml/2006/main">
            <a:off x="745331" y="2952750"/>
            <a:ext cx="2328863" cy="3105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E6FCA-1FAA-4D2B-AD7D-BBB7EC7C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3286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3A31E-F4C9-4BA9-A8FE-9D384F13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337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95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关键事实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7B77F-AD0B-4601-AD24-79575631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4932D-32F9-41DE-977B-FAF14DA5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528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累计投入 4700 多万元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2A53B-DFE7-4551-92F4-C84A82A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B1855-7E57-436A-8F4F-E79BE3DB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148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完成 69 条上学路改造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F86F4-BBB8-4159-BCF7-8FA975BC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14288">
            <a:solidFill>
              <a:srgbClr val="A7D5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604B5-E654-4D0B-B078-73F17DE6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9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教学转译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4D450-58BE-4FDD-8937-DD0B6E1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90BE5-7444-4736-A6D5-45CAC89D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小切口：上学路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F04B9-0949-4AEF-A3B0-186F9365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0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7863C-FBDD-48CE-AE54-9962D455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真问题：安全与拥堵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A7F9AF-5BBB-4B1E-A235-2C0BE13F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72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624E1-46E2-41C6-81E3-F8F4133E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7682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大服务：阅读与文化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5A65D-F129-4526-9982-09DBBE3A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AB81ED-38BB-433D-8F51-C8350EF7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人民日报素材课｜城市治理与公共服务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DF77A8-8EF0-4D11-A81D-E81CCEAF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5833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F0309C-6BBF-4B31-9D0D-4DC6E410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C9AD0-DF36-41BD-BA89-C730BE1B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CDE4-0055-49BC-B680-18B03852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CA3BB-2472-488B-A7CC-5BECD8A5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51337-ECFF-4808-9342-F30E2E6A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BDAE7-D071-4AA0-9539-E1ED2E9B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3F224-C68E-4EB5-BBFE-9F487640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84984-673D-4892-908F-751E9ADA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AA47B-D4DE-49DA-B6BD-9BE760D4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B7AD7-1EF9-4EC0-976D-9E48FDDC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F423E-84A5-45F2-B02A-DB4B659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1859F-3411-4BFB-835C-CD0AFC91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核心框架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D01FB-4760-4A7C-A813-40F6EA70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把案例拆成五步治理动作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A0669-E71C-40BA-B8BF-5C663A8B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这套框架可以同时服务申论对策段和结构化面试组织题。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6A702-2F8B-4CF3-8507-40CA7839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632C6-FF0A-4487-9AE3-C7F7A1E5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发现问题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2730D-298C-4E96-8FF5-B4F6656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城市体检</a:t>
            </a:r>
          </a:p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群众调查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F09A5-316A-4CE2-A554-6CF6771B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386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1BE40-C911-441C-BCC3-1008C04D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4335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EC5BB-CE20-40F3-9139-4DADB5C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385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14288">
            <a:solidFill>
              <a:srgbClr val="A7D5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49B73-1ABD-41A7-AD28-CEF728E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43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确定优先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C3608-4F37-44B0-A8B8-8B9BA90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767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安全底线</a:t>
            </a:r>
          </a:p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高频需求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83B17-8603-44C2-BCE9-3164EBE1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386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AD86A-5F65-4D00-A9D0-2668280F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4335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8396E-4CB4-439D-B58E-EB70DC13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297FB-A0B5-444B-85C5-28BD3F85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43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协同改造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27378-3CD1-444E-ADF4-18F5C1D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部门联动</a:t>
            </a:r>
          </a:p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场景治理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AFF921-9768-47D9-B042-84B24087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386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D54485-DF88-44C3-AA87-BB02A9CA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4335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AD429-843E-4BD3-AB46-66A729D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385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14288">
            <a:solidFill>
              <a:srgbClr val="A7D5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C4BB66-1335-417A-8C23-DC278520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43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功能复合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B7F348-B3A5-4964-9FF7-10F9F6D4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0767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通行+教育</a:t>
            </a:r>
          </a:p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文化+审美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A9CEB5-5D3C-49B9-B329-EC3D0C3F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EDC469-4810-4A50-84CE-BEAF7BA0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4335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0AC6F-C6D3-47E5-9A47-FC713ED9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41C2-2EB0-424B-8763-0BA0A4F8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43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反馈长效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A61854-340B-43B8-BD1B-3FA68D49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767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评估效果</a:t>
            </a:r>
          </a:p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维护责任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1D7815-DD1D-471F-9463-A3313A5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80B9E3-D0E0-4036-A8B3-47C44709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人民日报素材课｜城市治理与公共服务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63FA36-C267-406B-82D9-9EA73007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06759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F5558-B5FE-4AB2-AFBE-36218CF0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BA1C1-CBA0-40C8-BB28-781CD040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FBD9E-6AE9-45AC-8654-2DB49EBE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7644F-C05E-4580-8289-3B3F1C81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7E23D-12BF-4604-B457-67DF9E5C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30B0F-9316-4D06-A159-D0599466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29986-C6B5-41EE-8D05-D91CA4DB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3FE08-C165-499A-BF9A-05276C39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7683A-A5A5-4796-A86E-5AEA0E85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F3C14-CB17-4CB4-9AE3-7B562D38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9FB62-28DF-4A54-B1FA-F4EE4FAE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36B6A-FC2E-4025-9FE2-BD547A64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面试示范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BD25D-4092-42EB-A8C6-750F3B02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同一道题，差距在“拆细”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10779-EDBA-4236-A63A-A015BA87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题目：校门口拥堵、雨天通行不便，领导让你推进“最美上学路”改造。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6331F-ECF0-4293-A663-EDCB9A95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762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8"/>
          </a:solidFill>
          <a:ln xmlns:a="http://schemas.openxmlformats.org/drawingml/2006/main" w="14288">
            <a:solidFill>
              <a:srgbClr val="F4B8B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4D05-0721-4082-8AF4-4BE298AB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普通答法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731BE-2701-41AD-863C-9C9BCF3D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A06C1-5664-4497-974A-3F4280C5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005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加强调研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0B616-0761-4822-8E67-4DAB989F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90616-A19E-4C36-98CE-AD6AAED2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52437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完善设施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C0301-E606-4D6A-886A-74C65D15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43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89E82-DEB1-4652-941D-EF0CA159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0482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加强宣传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117D4-064C-43F3-B2BE-0DDA3D08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92F75-85BF-4657-9952-47F74D6F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高分答法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7B065-F5FD-46ED-8018-3684F38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C7D65-7400-4002-88C8-B906B1FD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7147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现场体检：找点位、找时段、找风险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59AC43-A1F5-4BC2-BAC3-30E3BEAC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EB24E-3A84-4958-8FD2-C3D62EB1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4337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安全优先：拓宽、防滑、护栏、分流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8E246-A8B5-4C63-BA89-59D38BBE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67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D51FC-5C42-4DA5-9D33-71FA57E6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5720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空间优化：雨棚、等候区、导向标识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0703E2-3987-401F-AD5B-BB64E211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9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FAE139-D3C5-4FFA-A661-D7117B26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006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文化赋能：阅读角、作品墙、文化展板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38C572-207B-4DEB-AAB8-A4A6EFB4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2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85213B-325B-4A6F-A864-3C38BFA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4292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长效维护：问卷反馈、责任到人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770885-5DD6-4690-8730-46934DC9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338E2F-EEFB-4536-BE58-2DFF5BF8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人民日报素材课｜城市治理与公共服务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8F256A-858D-4EF9-A159-531B1D6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33019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94D19-7371-46A5-942C-1C2B7EA2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34414-399B-417A-BBD2-7237E244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DC679-76DF-475D-AAF7-026D7FC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C52F6-C8AD-4B5D-9879-115929F4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40C6F-3F76-4174-923E-E961CE19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B3D55-A64D-4C48-9332-3685CCD3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A0DA7-E966-4C2D-AAD2-8FDF7226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1AD5A-6C68-4FF1-BA5D-B33F65CA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8A486-4D14-47F8-ABDD-A3BFFAEE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F7823-AEA0-4085-BF67-631A2DA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C9A5C-CB4D-4382-AEB9-6B2F5327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3A280-4868-442E-A0C9-97178486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反面提醒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1D9DF-5C6D-47DD-9351-41E8119E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城市更新不是大拆大建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0F778-7F02-4750-96CE-25170C0B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微改造也不是摆样子。要写清楚“好看”背后的真实服务。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17627fe8e4bd6"/>
          <a:stretch xmlns:a="http://schemas.openxmlformats.org/drawingml/2006/main"/>
        </p:blipFill>
        <p:spPr>
          <a:xfrm xmlns:a="http://schemas.openxmlformats.org/drawingml/2006/main">
            <a:off x="669131" y="2905125"/>
            <a:ext cx="2328863" cy="3105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30F06-DFF7-41B7-A2B0-6A8EDC7A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F1009-466B-4AF0-A45A-B71F91F7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0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面子和里子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792C8-8CB3-401E-9AC9-C65A6DB3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433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颜值可以提升，但安全、通行、便利才是里子。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75801-9A6E-4CBE-9653-044E842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243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14288">
            <a:solidFill>
              <a:srgbClr val="A7D5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01466-EF64-435A-B3A8-CFE7682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建设和运营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48652-C212-4507-BD91-EA7E3647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433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建起来只是第一步，能不能长期维护更关键。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05A7A-745A-4908-B978-FB89B8D3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170B7-F37D-4843-9D6B-F5AF7B0D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管理和服务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210F2E-5F23-4C54-8BA7-931761C1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433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不要只看秩序问题，要看见背后的服务需求。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3CAAB-E156-4879-AECC-5B2D5769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FC4FC-8909-46C7-855A-D845EFB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人民日报素材课｜城市治理与公共服务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7D4FD-359C-42E8-B6BC-4FF9CD74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87588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B51CFC-3273-4067-AACD-22A18C12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3D5B9-1230-4D90-9BD5-9B96012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E8C6B-26A0-4BDF-A900-BDB18F03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39C14-7B59-43DA-B1A0-618964C2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C4C4E-FA03-4180-96E7-07685CD8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DD9F7-CDA0-4FCB-8ADC-988D4EE0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733FE-8184-4FF8-844F-A4C49817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AFA6C-1C65-4AC4-AC36-4F676674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2B757-7062-4A54-9FE7-25F8E9D3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E5C8D-086C-415A-A869-B2E00B67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82C74-1F6F-4AE4-AE11-B443755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E3114-EEA7-47E1-BA75-25709746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课堂练习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EA726-8716-41CA-A9A5-83F39135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让学生现场把框架用起来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7A55A-65BA-418D-861B-C61A4F0B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这页可以直接作为课堂提问，也可以作为课后写作训练。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BCDAE-9F11-4150-AA9E-DBAE2679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A227F-86F0-4D1F-8DEA-3BE83020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95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练习题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96857-1107-451B-A68B-C2DA7A79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某老旧小区周边道路狭窄、停车混乱、老人出行不便。请你提出城市微改造建议。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1D3AD-AF58-4197-9F8B-9A80D690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000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4288">
            <a:solidFill>
              <a:srgbClr val="F2B70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26FE0-C961-41D0-BBDD-07253E4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861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95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要求学生答出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C0FD4-2D92-4E99-96E6-7F37E185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体检识别</a:t>
            </a:r>
          </a:p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底线保障</a:t>
            </a:r>
          </a:p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协同供给</a:t>
            </a:r>
          </a:p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功能复合</a:t>
            </a:r>
          </a:p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评估长效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3D78A-F08E-4DAA-8578-201A0A5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A8855-2133-44DE-BBB7-B340CDA3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0200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390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B8C92-C3E5-41D2-BB52-721C7181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19750"/>
            <a:ext cx="628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这个城市，究竟让谁的哪一段日常，变得更好了？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B9CA5-CB31-44B7-AD15-08B430EB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339AA-78C7-4075-9355-017C0A0B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人民日报素材课｜城市治理与公共服务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566E3-318E-4276-8216-947539A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50746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3280E-E2F0-455F-8665-F87BF931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BE9E6-F506-43A7-AE3B-8DB46433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6CDD2-17AB-4B70-BF7A-9D7C559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11BB3-DFAF-491B-8080-B73EBE1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6CEAB-210A-4C23-B3C0-DB768AEA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B5507-A88C-456C-9C39-A76F2109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DF9B7-2D7B-4E97-B980-636EBAE8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BE273-A931-4C7B-B547-B6C513D9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0168D-D24E-47C7-9018-319E824E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C06FC-48B1-4D47-AED8-2102C0D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9BE7D-E85F-40DA-A667-7716F56D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429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C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659CD-08FF-4866-BBC4-BF9D904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B42318"/>
                </a:solidFill>
                <a:latin typeface="STHeiti"/>
                <a:ea typeface="STHeiti"/>
                <a:cs typeface="STHeiti"/>
              </a:rPr>
              <a:t>参考文献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F913C-7E29-421A-98A6-073E68ED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本课所用人民日报材料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D700B-B6D5-425B-97C9-A0EB58E7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课堂讲解、公众号文章、小红书配图均基于以下四篇材料整理。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EB7A7-46BE-4742-8EAF-AAE59F1F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AB48E-B9D6-4124-BB14-531F805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670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1. 窦皓：《最美上学路  成长新空间》，《人民日报》2026年5月17日第04版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C87AD-5861-4A81-B5BE-A1E3B016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14288">
            <a:solidFill>
              <a:srgbClr val="A7D5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D5CC4-30CF-4CDF-A445-4BC74930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8142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2. 陈震：《城市微改造，让文化味更浓》，《人民日报》2026年5月17日第04版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D7BE3-BA3B-4CBC-A356-16D07C62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C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4666B-1633-4A1A-8280-6A208AD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958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3. 《地级及以上城市、县级市今年将全面开展城市体检》，《人民日报》2026年5月17日第04版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CC829-65A1-4780-BB71-1862FEFC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14288">
            <a:solidFill>
              <a:srgbClr val="A7D5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B636A-5D87-401F-8EB9-58576131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101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18212B"/>
                </a:solidFill>
                <a:latin typeface="STHeiti"/>
                <a:ea typeface="STHeiti"/>
                <a:cs typeface="STHeiti"/>
              </a:rPr>
              <a:t>4. 潘俊强：《“零工市场让我们好找活、有保障”》，《人民日报》2026年5月17日第04版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AF9F0-0B8B-4746-87F3-37691DB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9D114-99DC-4844-9668-F76C85EE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人民日报素材课｜城市治理与公共服务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90E3C-1A58-45A4-8EC8-A81344D0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7490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0E7490"/>
                </a:solidFill>
                <a:latin typeface="STHeiti"/>
                <a:ea typeface="STHeiti"/>
                <a:cs typeface="STHeit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144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2026-05-23T07:56:28.7830000Z</dcterms:created>
  <dcterms:modified xsi:type="dcterms:W3CDTF">2026-05-23T07:56:28.7830000Z</dcterms:modified>
</coreProperties>
</file>